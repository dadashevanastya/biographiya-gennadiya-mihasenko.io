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Masters/slideMaster1.xml" ContentType="application/vnd.openxmlformats-officedocument.presentationml.slideMaster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notesSlides/notesSlide14.xml" ContentType="application/vnd.openxmlformats-officedocument.presentationml.notesSlide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notesSlides/notesSlide20.xml" ContentType="application/vnd.openxmlformats-officedocument.presentationml.notesSlide+xml"/>
  <Override PartName="/ppt/slideLayouts/slideLayout2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s/slide19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s/slide18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s/slide1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theme/theme2.xml" ContentType="application/vnd.openxmlformats-officedocument.them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9" r:id="rId3"/>
    <p:sldId id="261" r:id="rId4"/>
    <p:sldId id="264" r:id="rId5"/>
    <p:sldId id="266" r:id="rId6"/>
    <p:sldId id="267" r:id="rId7"/>
    <p:sldId id="283" r:id="rId8"/>
    <p:sldId id="268" r:id="rId9"/>
    <p:sldId id="270" r:id="rId10"/>
    <p:sldId id="271" r:id="rId11"/>
    <p:sldId id="273" r:id="rId12"/>
    <p:sldId id="265" r:id="rId13"/>
    <p:sldId id="274" r:id="rId14"/>
    <p:sldId id="275" r:id="rId15"/>
    <p:sldId id="276" r:id="rId16"/>
    <p:sldId id="277" r:id="rId17"/>
    <p:sldId id="279" r:id="rId18"/>
    <p:sldId id="280" r:id="rId19"/>
    <p:sldId id="284" r:id="rId20"/>
    <p:sldId id="285" r:id="rId21"/>
    <p:sldId id="286" r:id="rId22"/>
    <p:sldId id="287" r:id="rId23"/>
    <p:sldId id="288" r:id="rId24"/>
    <p:sldId id="289" r:id="rId25"/>
    <p:sldId id="290" r:id="rId26"/>
    <p:sldId id="291" r:id="rId27"/>
    <p:sldId id="292" r:id="rId28"/>
    <p:sldId id="293" r:id="rId29"/>
    <p:sldId id="296" r:id="rId30"/>
    <p:sldId id="297" r:id="rId31"/>
    <p:sldId id="299" r:id="rId32"/>
    <p:sldId id="300" r:id="rId33"/>
    <p:sldId id="301" r:id="rId34"/>
    <p:sldId id="302" r:id="rId35"/>
    <p:sldId id="304" r:id="rId36"/>
    <p:sldId id="305" r:id="rId37"/>
    <p:sldId id="306" r:id="rId38"/>
    <p:sldId id="307" r:id="rId39"/>
    <p:sldId id="308" r:id="rId40"/>
    <p:sldId id="309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4" y="32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" Type="http://schemas.openxmlformats.org/officeDocument/2006/relationships/slide" Target="slides/slide1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" Type="http://schemas.openxmlformats.org/officeDocument/2006/relationships/slide" Target="slides/slide2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tableStyles" Target="tableStyles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верхнего колонтитула 1"/>
          <p:cNvSpPr>
            <a:spLocks noGrp="1" noEditPoints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3" name="Заполнитель даты 2"/>
          <p:cNvSpPr>
            <a:spLocks noGrp="1" noEditPoints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/>
          <a:p>
            <a:r>
              <a:rPr lang="en-US" smtClean="0"/>
              <a:t>*</a:t>
            </a:r>
            <a:endParaRPr lang="en-US"/>
          </a:p>
        </p:txBody>
      </p:sp>
      <p:sp>
        <p:nvSpPr>
          <p:cNvPr id="4" name="Заполнитель изображения слайда 3"/>
          <p:cNvSpPr>
            <a:spLocks noGrp="1" noRot="1" noChangeAspect="1" noEditPoints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  <a:p>
            <a:endParaRPr lang="en-US"/>
          </a:p>
        </p:txBody>
      </p:sp>
      <p:sp>
        <p:nvSpPr>
          <p:cNvPr id="5" name="Заполнитель заметок 4"/>
          <p:cNvSpPr>
            <a:spLocks noGrp="1" noEditPoints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altLang="en-US"/>
              <a:t>Щелкните для изменения стиля основного текста</a:t>
            </a:r>
            <a:endParaRPr lang="en-US"/>
          </a:p>
          <a:p>
            <a:pPr lvl="1"/>
            <a:r>
              <a:rPr lang="ru-RU" altLang="en-US"/>
              <a:t>Второй уровень</a:t>
            </a:r>
            <a:endParaRPr lang="en-US"/>
          </a:p>
          <a:p>
            <a:pPr lvl="2"/>
            <a:r>
              <a:rPr lang="ru-RU" altLang="en-US"/>
              <a:t>Третий уровень</a:t>
            </a:r>
            <a:endParaRPr lang="en-US"/>
          </a:p>
          <a:p>
            <a:pPr lvl="3"/>
            <a:r>
              <a:rPr lang="ru-RU" altLang="en-US"/>
              <a:t>Четвертый уровень</a:t>
            </a:r>
            <a:endParaRPr lang="en-US"/>
          </a:p>
          <a:p>
            <a:pPr lvl="4"/>
            <a:r>
              <a:rPr lang="ru-RU" altLang="en-US"/>
              <a:t>Пятый уровень</a:t>
            </a:r>
            <a:endParaRPr lang="en-US"/>
          </a:p>
        </p:txBody>
      </p:sp>
      <p:sp>
        <p:nvSpPr>
          <p:cNvPr id="6" name="Заполнитель нижнего колонтитула 5"/>
          <p:cNvSpPr>
            <a:spLocks noGrp="1" noEditPoints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  <a:p>
            <a:endParaRPr lang="en-US"/>
          </a:p>
        </p:txBody>
      </p:sp>
      <p:sp>
        <p:nvSpPr>
          <p:cNvPr id="7" name="Заполнитель номера слайда 6"/>
          <p:cNvSpPr>
            <a:spLocks noGrp="1" noEditPoints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/>
          <a:p>
            <a:r>
              <a:rPr lang="en-US" smtClean="0"/>
              <a:t>#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B6F78D2-683F-4B99-B6FA-BA50DEEED04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BB9237C-6B5E-42E3-9963-DA403A225F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C2785F4-BA39-4691-83CF-485A5C613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BBF8C4A-5A5D-4E73-A4B4-5DBF30492F1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C2785F4-BA39-4691-83CF-485A5C61334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D7957130-4A27-4569-B813-E950AE3DCA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61250E94-67F4-4FF0-871D-8B33D84F730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B70339B3-1AA3-4ED8-B095-BE297342E45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19C0B528-AD2B-4626-8CC7-53CDD061BED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5DC99F96-EF2F-4D4F-93DE-E6EA21F2B4A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полнитель изображения слайда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Заполнитель текста 2"/>
          <p:cNvSpPr>
            <a:spLocks noGrp="1" noEditPoints="1"/>
          </p:cNvSpPr>
          <p:nvPr>
            <p:ph type="body" idx="3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Заполнитель номера слайда 3"/>
          <p:cNvSpPr>
            <a:spLocks noGrp="1" noEditPoints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fld id="{81F3CCBE-5A9A-4B06-96DE-CCC0568728C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 noEditPoints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 noEditPoints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 noEditPoints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 noEditPoints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 noEditPoints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EditPoints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 noEditPoints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 noEditPoints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 noEditPoints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10"/>
          </p:nvPr>
        </p:nvSpPr>
        <p:spPr/>
        <p:txBody>
          <a:bodyPr/>
          <a:lstStyle/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12"/>
          </p:nvPr>
        </p:nvSpPr>
        <p:spPr/>
        <p:txBody>
          <a:bodyPr/>
          <a:lstStyle/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 noEditPoints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 noEditPoints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EditPoints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D7FF2-845F-41B9-944F-35B90659B7D6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 noEditPoints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 noEditPoints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7E345D-6FE0-4977-A3DF-5875ED8E59A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10" Type="http://schemas.openxmlformats.org/officeDocument/2006/relationships/slide" Target="slide20.xml"/><Relationship Id="rId11" Type="http://schemas.openxmlformats.org/officeDocument/2006/relationships/slide" Target="slide22.xml"/><Relationship Id="rId12" Type="http://schemas.openxmlformats.org/officeDocument/2006/relationships/slide" Target="slide24.xml"/><Relationship Id="rId13" Type="http://schemas.openxmlformats.org/officeDocument/2006/relationships/slide" Target="slide26.xml"/><Relationship Id="rId14" Type="http://schemas.openxmlformats.org/officeDocument/2006/relationships/slide" Target="slide28.xml"/><Relationship Id="rId15" Type="http://schemas.openxmlformats.org/officeDocument/2006/relationships/slide" Target="slide30.xml"/><Relationship Id="rId16" Type="http://schemas.openxmlformats.org/officeDocument/2006/relationships/slide" Target="slide32.xml"/><Relationship Id="rId17" Type="http://schemas.openxmlformats.org/officeDocument/2006/relationships/slide" Target="slide34.xml"/><Relationship Id="rId18" Type="http://schemas.openxmlformats.org/officeDocument/2006/relationships/slide" Target="slide36.xml"/><Relationship Id="rId19" Type="http://schemas.openxmlformats.org/officeDocument/2006/relationships/slide" Target="slide38.xml"/><Relationship Id="rId2" Type="http://schemas.openxmlformats.org/officeDocument/2006/relationships/slide" Target="slide4.xml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.xml"/><Relationship Id="rId3" Type="http://schemas.openxmlformats.org/officeDocument/2006/relationships/slide" Target="slide6.xml"/><Relationship Id="rId4" Type="http://schemas.openxmlformats.org/officeDocument/2006/relationships/slide" Target="slide8.xml"/><Relationship Id="rId5" Type="http://schemas.openxmlformats.org/officeDocument/2006/relationships/slide" Target="slide10.xml"/><Relationship Id="rId6" Type="http://schemas.openxmlformats.org/officeDocument/2006/relationships/slide" Target="slide12.xml"/><Relationship Id="rId7" Type="http://schemas.openxmlformats.org/officeDocument/2006/relationships/slide" Target="slide14.xml"/><Relationship Id="rId8" Type="http://schemas.openxmlformats.org/officeDocument/2006/relationships/slide" Target="slide16.xml"/><Relationship Id="rId9" Type="http://schemas.openxmlformats.org/officeDocument/2006/relationships/slide" Target="slide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749906" y="-604686"/>
            <a:ext cx="13426893" cy="7779980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/>
        </p:nvGraphicFramePr>
        <p:xfrm>
          <a:off x="444496" y="682737"/>
          <a:ext cx="11303008" cy="60184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49364"/>
                <a:gridCol w="2288228"/>
                <a:gridCol w="2288228"/>
                <a:gridCol w="2288228"/>
                <a:gridCol w="2288960"/>
              </a:tblGrid>
              <a:tr h="1477844"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59392D"/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" action="ppaction://hlinksldjump"/>
                        </a:rPr>
                        <a:t>1</a:t>
                      </a:r>
                      <a:endParaRPr lang="en-US">
                        <a:solidFill>
                          <a:srgbClr val="59392D"/>
                        </a:solidFill>
                        <a:latin typeface="Cascadia Code" pitchFamily="49" charset="0"/>
                        <a:ea typeface="Cascadia Code" pitchFamily="49" charset="0"/>
                        <a:cs typeface="Cascadia Code" pitchFamily="49" charset="0"/>
                        <a:hlinkClick r:id="rId1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2" action="ppaction://hlinksldjump"/>
                        </a:rPr>
                        <a:t>2</a:t>
                      </a:r>
                    </a:p>
                    <a:p>
                      <a:pPr algn="ctr"/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3" action="ppaction://hlinksldjump"/>
                        </a:rPr>
                        <a:t>3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3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4" action="ppaction://hlinksldjump"/>
                        </a:rPr>
                        <a:t>4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5" action="ppaction://hlinksldjump"/>
                        </a:rPr>
                        <a:t>5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</a:tr>
              <a:tr h="1477844"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6" action="ppaction://hlinksldjump"/>
                        </a:rPr>
                        <a:t>6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6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7" action="ppaction://hlinksldjump"/>
                        </a:rPr>
                        <a:t>7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7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8" action="ppaction://hlinksldjump"/>
                        </a:rPr>
                        <a:t>8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8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9" action="ppaction://hlinksldjump"/>
                        </a:rPr>
                        <a:t>9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0" action="ppaction://hlinksldjump"/>
                        </a:rPr>
                        <a:t>10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</a:tr>
              <a:tr h="1477844"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1" action="ppaction://hlinksldjump"/>
                        </a:rPr>
                        <a:t>11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1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2" action="ppaction://hlinksldjump"/>
                        </a:rPr>
                        <a:t>12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2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3" action="ppaction://hlinksldjump"/>
                        </a:rPr>
                        <a:t>13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4" action="ppaction://hlinksldjump"/>
                        </a:rPr>
                        <a:t>14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4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5" action="ppaction://hlinksldjump"/>
                        </a:rPr>
                        <a:t>15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5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</a:tr>
              <a:tr h="1477844"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6" action="ppaction://hlinksldjump"/>
                        </a:rPr>
                        <a:t>16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6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7" action="ppaction://hlinksldjump"/>
                        </a:rPr>
                        <a:t>17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7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8" action="ppaction://hlinksldjump"/>
                        </a:rPr>
                        <a:t>18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8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0">
                          <a:solidFill>
                            <a:srgbClr val="9B6F53">
                              <a:alpha val="76000"/>
                            </a:srgbClr>
                          </a:solidFill>
                          <a:latin typeface="Cascadia Code" pitchFamily="49" charset="0"/>
                          <a:ea typeface="Cascadia Code" pitchFamily="49" charset="0"/>
                          <a:cs typeface="Cascadia Code" pitchFamily="49" charset="0"/>
                          <a:hlinkClick r:id="rId19" action="ppaction://hlinksldjump"/>
                        </a:rPr>
                        <a:t>19</a:t>
                      </a:r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  <a:hlinkClick r:id="rId19" action="ppaction://hlinksldjump"/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>
                        <a:solidFill>
                          <a:srgbClr val="9B6F53">
                            <a:alpha val="76000"/>
                          </a:srgbClr>
                        </a:solidFill>
                      </a:endParaRPr>
                    </a:p>
                  </a:txBody>
                  <a:tcPr>
                    <a:gradFill rotWithShape="1">
                      <a:gsLst>
                        <a:gs pos="0">
                          <a:srgbClr val="EFE8DC"/>
                        </a:gs>
                        <a:gs pos="91979">
                          <a:srgbClr val="C5AA98"/>
                        </a:gs>
                        <a:gs pos="100000">
                          <a:srgbClr val="EFE8DC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27" name="Текст. поле 26"/>
          <p:cNvSpPr txBox="1"/>
          <p:nvPr/>
        </p:nvSpPr>
        <p:spPr>
          <a:xfrm>
            <a:off x="444496" y="222176"/>
            <a:ext cx="11303008" cy="3942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Викторина по произведению Г.П.Михасенко "Земленыр, или каскад приключений" </a:t>
            </a:r>
            <a:endParaRPr lang="en-US" sz="2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166021"/>
            <a:ext cx="8751288" cy="25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каком возрасте герой мог отправиться в сказочную страну? Подсказка: «ЧД минус два»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21508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166021"/>
            <a:ext cx="8751288" cy="31355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Ответ:чёртова дюжина минус два. В народе «дюжина» - число 12. «Чёртова дюжина - 13». 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13-2=11. Ответ: в 11 лет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1556420"/>
            <a:ext cx="8751288" cy="374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2.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сказке, как и полагается, много волшебных превращений. Птичка Ду-ю-ду, щука, заяц появились из неодушевлённых предметов. Назовите эти предметы.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946821"/>
            <a:ext cx="8751288" cy="4964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Ответ:«Но теперь это был уже не </a:t>
            </a:r>
            <a:r>
              <a:rPr lang="ru-RU" sz="4000" b="0" i="0" u="sng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камень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, а птичка».</a:t>
            </a:r>
          </a:p>
          <a:p>
            <a:pPr marL="4572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«</a:t>
            </a:r>
            <a:r>
              <a:rPr lang="ru-RU" sz="4000" b="0" i="0" u="sng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Шапка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стала зайцем».</a:t>
            </a:r>
          </a:p>
          <a:p>
            <a:pPr marL="4572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«Забредя по щиколотку, она погрузила </a:t>
            </a:r>
            <a:r>
              <a:rPr lang="ru-RU" sz="4000" b="0" i="0" u="sng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ремешок 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вводу и тут же, ойкнув, резко выпрямилась –в её руках билась щучка»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1556420"/>
            <a:ext cx="8751288" cy="374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3.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произведении Г. Михасенко часто встречаются аббревиатуры. Для героев это загадки. Помогите разгадать загадки. Что означают аббревиатуры: НР, РП, ВП?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584086" y="2470822"/>
            <a:ext cx="11023830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   НР- это Нож-Река</a:t>
            </a:r>
          </a:p>
          <a:p>
            <a:pPr marL="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         РП–это Раскалённые Пауты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         ВП – это Водосборное Поле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1556420"/>
            <a:ext cx="8751288" cy="374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4.</a:t>
            </a:r>
            <a:r>
              <a:rPr lang="ru-RU" sz="4000" b="0" i="0" u="none" strike="noStrike">
                <a:latin typeface="Times New Roman" pitchFamily="18" charset="0" panose="02020603050405020304"/>
                <a:ea typeface="Calibri" pitchFamily="34" charset="0" panose="020F0502020204030204"/>
                <a:cs typeface="Times New Roman" pitchFamily="18" charset="0" panose="02020603050405020304"/>
              </a:rPr>
              <a:t>	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произведении Г. Михасенко часто встречаются аббревиатуры. Для героев это загадки. Помогите разгадать загадки. Что означают аббревиатуры: БК, ШБ, КБР?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82518" y="2470821"/>
            <a:ext cx="12026964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Ответ:БК – Безводное Королевство</a:t>
            </a:r>
          </a:p>
          <a:p>
            <a:pPr marL="4572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      ШБ – Шарнирный Бор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       КБР – Королевство Берёзовых Рощ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3220074"/>
            <a:ext cx="8751288" cy="69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5.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Чем клялся Пи-эр?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2018795" y="3080421"/>
            <a:ext cx="8751288" cy="69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Ответ:Пи-эр клялся радиусом.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470821"/>
            <a:ext cx="8751288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6.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Что в качестве трофеев унесли друзья с Водосборного Поля?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2018796" y="2470821"/>
            <a:ext cx="8751288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Ответ:С Водосборного Поля в качестве трофеев ребята унесли кувшин и пистолет.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470821"/>
            <a:ext cx="8751288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7.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Пистолет и кувшин – трофеи были волшебными. Докажите это.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866430" y="946822"/>
            <a:ext cx="10459140" cy="4964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Ответ:«Ты прав- кувшин волшебный, сам варит!»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«И вдруг одна поразительная догадка осенила Васю: «Раз пистолет никто не заряжал, значит, он сам зарядился, значит патрон сам вырос, созрел в стволе, как созревает горошина в стручке».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470821"/>
            <a:ext cx="8751288" cy="130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8.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Как щука помогла ребятам? Почему она это сделала?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866430" y="403757"/>
            <a:ext cx="10459140" cy="557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Ответ:«Это особенная река, купаться в ней можно, но переплыть её нельзя. Она губит всех, кто достигает середины. «…» Раз в сутки, в полдень. Нож-Река останавливается». Так щука открыла два главных секрета Нож-Реки. Щука так отблагодарила Любу за то, что она спасла ей жизнь.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470821"/>
            <a:ext cx="8751288" cy="130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9.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Как заяц помог ребятам? Почему он это сделал?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866430" y="1037679"/>
            <a:ext cx="10459140" cy="4782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28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Ответ:«Опасность ШБ – это и есть Шарнирный Бор. «…» На ночь все деревья ложатся спать и давят, конечно, всех, кто им подвернётся». «Ты мне подарил вторую жизнь. Понимаешь, я уже однажды жил, охотник меня застрелил и сделал из меня шапку. Шапка эта попала к фокуснику, и он снова превратил меня в зайца, но снова хотел прикончить и пустить на жаркое. Ты спас меня для второй, как видишь, жизни. За добро я плачу добром и хочу спасти твою первую и единственную жизнь».</a:t>
            </a:r>
            <a:endParaRPr lang="en-US" sz="28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470821"/>
            <a:ext cx="8751288" cy="130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10.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Какое доброе дело сделали ребята в сказочной стране?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164869" y="2166021"/>
            <a:ext cx="10459140" cy="2525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Ответ:Ребята нашли ларец под тремя берёзами, в нем были зелья. Ребята</a:t>
            </a:r>
            <a:r>
              <a:rPr lang="ru-RU" sz="6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вылечили</a:t>
            </a:r>
            <a:r>
              <a:rPr lang="ru-RU" sz="7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Ду-ю-ду</a:t>
            </a:r>
            <a:r>
              <a:rPr lang="ru-RU" sz="18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и Земленыра.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34064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4083184"/>
            <a:ext cx="8751288" cy="130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11.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Какое открытие сделала Люба?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  <p:pic>
        <p:nvPicPr>
          <p:cNvPr id="9" name="Рисунок 6"/>
          <p:cNvPicPr>
            <a:picLocks noChangeAspect="1" noChangeArrowheads="1"/>
          </p:cNvPicPr>
          <p:nvPr/>
        </p:nvPicPr>
        <p:blipFill>
          <a:blip r:embed="rId1">
            <a:alphaModFix amt="80000"/>
          </a:blip>
          <a:srcRect/>
          <a:stretch>
            <a:fillRect/>
          </a:stretch>
        </p:blipFill>
        <p:spPr>
          <a:xfrm>
            <a:off x="4885974" y="274274"/>
            <a:ext cx="2420052" cy="3808910"/>
          </a:xfrm>
          <a:prstGeom prst="rect">
            <a:avLst/>
          </a:prstGeom>
          <a:solidFill>
            <a:srgbClr val="59392D"/>
          </a:solidFill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164870" y="2470821"/>
            <a:ext cx="10459140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Ответ:Люба поняла, что Земленыр и волшебник Корбероз – родные братья.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488876" y="-210238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1378579"/>
            <a:ext cx="8751288" cy="4354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12.В</a:t>
            </a:r>
            <a:r>
              <a:rPr lang="ru-RU" sz="6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произведении встречаются фразы, которые можно считать афоризмами. 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 Закончите фразу: «Зло живуче и ползуче, укоренившись в сказке, оно переползёт в реальность, а…»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932828" y="1556421"/>
            <a:ext cx="10459140" cy="374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Ответ:«Зло живуче и ползуче, укоренившись в сказке, оно переползёт в реальность, а прижившись в реальности, проникает в сказку при таких зыбких незримых границах»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476976"/>
            <a:ext cx="8751288" cy="557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13.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произведении встречаются фразы, которые можно считать афоризмами. 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Закончите фразу: «Жизнь вне Родины- горькая штука, прямо болезнь действительно, причём – неизлечимая. Никакие пилюли и порошки не помогают….»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866430" y="1556421"/>
            <a:ext cx="10459140" cy="374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Ответ:«Жизнь вне Родины- горькая штука, прямо болезнь действительно, причём – неизлечимая. Никакие пилюли и порошки не помогают. Только сама Родина может исцелить».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403757"/>
            <a:ext cx="8751288" cy="55739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14.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произведении встречаются фразы, которые можно считать афоризмами. </a:t>
            </a:r>
          </a:p>
          <a:p>
            <a:pPr marL="4572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Закончите фразу: «Изверг – это существо ненормальное, злое, а в природе, ненормального нет, запомни это, мой друг. В природе есть…»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932828" y="2153727"/>
            <a:ext cx="10459140" cy="2550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32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Ответ:«Изверг – это существо ненормальное, злое, а в природе, ненормального нет, запомни это, мой друг. В природе есть загадочное и таинственное, то есть пока неизученное и непонятное».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000874"/>
            <a:ext cx="8751288" cy="2831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36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15.</a:t>
            </a:r>
            <a:r>
              <a:rPr lang="ru-RU" sz="36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произведении встречаются фразы, которые можно считать афоризмами. </a:t>
            </a: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36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Закончите фразу: «Чем чёрт не шутит, пока…»</a:t>
            </a:r>
            <a:endParaRPr lang="en-US" sz="36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932828" y="2775621"/>
            <a:ext cx="10459140" cy="130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Ответ:«Чем чёрт не шутит, пока бог спит»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97543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399997" y="1434113"/>
            <a:ext cx="11392007" cy="3989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32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16.</a:t>
            </a:r>
            <a:r>
              <a:rPr lang="ru-RU" sz="32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Семья из посёлка Шуры-Муры подвергалась штрафу: за отсутствие второй берёзы – 200 барбитов, за отсутствие третьей – 400, за пользование берёзовыми дровами – 100. Итого: 700 барбитов. У семьи такой суммы не было. Как ребятам и Земленыру удалось убедить верных слуг короля взять с несчастных 400 барбитов и при этом не нарушить закон?</a:t>
            </a:r>
            <a:endParaRPr lang="en-US" sz="32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-33719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059786" y="1251622"/>
            <a:ext cx="10459140" cy="4354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Ответ:Так как во дворе всё-таки одна берёза была, её предложено было считать третьей, самой дорогой. А штраф заплатили за первую берёзу – 100 барбитов, за вторую – 200, и за дрова 100. Итого: 400 барбитов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84847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1251621"/>
            <a:ext cx="8751288" cy="4354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17.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В произведении встречаются фразы, которые можно считать афоризмами. </a:t>
            </a:r>
          </a:p>
          <a:p>
            <a:pPr marL="4572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Закончите фразу: «По отдельности мы можем творить лишь мелкие чудеса, …»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222934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866430" y="2470821"/>
            <a:ext cx="10459140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Ответ:«По отдельности мы можем творить лишь мелкие чудеса, а все вместе – великие».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84847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775621"/>
            <a:ext cx="8751288" cy="130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18.</a:t>
            </a:r>
            <a:r>
              <a:rPr lang="ru-RU" sz="4000" b="0" i="0" u="none" strike="noStrike">
                <a:latin typeface="Times New Roman" pitchFamily="18" charset="0" panose="02020603050405020304"/>
                <a:ea typeface="Calibri" pitchFamily="34" charset="0" panose="020F0502020204030204"/>
                <a:cs typeface="Times New Roman" pitchFamily="18" charset="0" panose="02020603050405020304"/>
              </a:rPr>
              <a:t> 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Какой подвиг совершил Пи-эр?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488876" y="-248326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866430" y="1645291"/>
            <a:ext cx="10459140" cy="3745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Ответ:Ребята спрятались за ещё мокрым телом Пи-эра, когда на них напали пауты.  Раскалённых паутов было слишком много – они высушили тело Пи-эра и он вспыхнул, как факел. Пи-эр сгорел.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298439" y="-184847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1720356" y="2623170"/>
            <a:ext cx="8751288" cy="1916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19.</a:t>
            </a: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Что создали ребята при поселковой библиотеке, когда вернулись в Чару?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8-конечная звезда 7">
            <a:hlinkClick r:id="" action="ppaction://hlinkshowjump?jump=nextslide"/>
          </p:cNvPr>
          <p:cNvSpPr/>
          <p:nvPr/>
        </p:nvSpPr>
        <p:spPr>
          <a:xfrm>
            <a:off x="10172291" y="5977715"/>
            <a:ext cx="1751432" cy="609194"/>
          </a:xfrm>
          <a:prstGeom prst="star8">
            <a:avLst/>
          </a:prstGeom>
          <a:solidFill>
            <a:srgbClr val="C5AA98"/>
          </a:solidFill>
          <a:ln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>
                <a:solidFill>
                  <a:srgbClr val="59392D"/>
                </a:solidFill>
              </a:rPr>
              <a:t>ответ</a:t>
            </a:r>
            <a:endParaRPr lang="en-US">
              <a:solidFill>
                <a:srgbClr val="59392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-374614" y="-222934"/>
            <a:ext cx="12788878" cy="7532392"/>
          </a:xfrm>
          <a:prstGeom prst="rect">
            <a:avLst/>
          </a:prstGeom>
          <a:solidFill>
            <a:srgbClr val="EFE8D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Текст. поле 5"/>
          <p:cNvSpPr txBox="1"/>
          <p:nvPr/>
        </p:nvSpPr>
        <p:spPr>
          <a:xfrm>
            <a:off x="790255" y="2470821"/>
            <a:ext cx="10459140" cy="697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marR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Times New Roman" pitchFamily="18" charset="0" panose="02020603050405020304"/>
              <a:buNone/>
            </a:pPr>
            <a:r>
              <a:rPr lang="ru-RU" sz="4000" b="0" i="0" u="none" strike="noStrike">
                <a:solidFill>
                  <a:srgbClr val="59392D"/>
                </a:solidFill>
                <a:latin typeface="Cascadia Code" pitchFamily="49" charset="0"/>
                <a:ea typeface="Cascadia Code" pitchFamily="49" charset="0"/>
                <a:cs typeface="Cascadia Code" pitchFamily="49" charset="0"/>
              </a:rPr>
              <a:t>Ответ:Они создали «Клуб-сказку».</a:t>
            </a:r>
            <a:endParaRPr lang="en-US" sz="4000">
              <a:solidFill>
                <a:srgbClr val="59392D"/>
              </a:solidFill>
              <a:latin typeface="Cascadia Code" pitchFamily="49" charset="0"/>
              <a:ea typeface="Cascadia Code" pitchFamily="49" charset="0"/>
              <a:cs typeface="Cascadia Code" pitchFamily="49" charset="0"/>
            </a:endParaRPr>
          </a:p>
        </p:txBody>
      </p:sp>
      <p:sp>
        <p:nvSpPr>
          <p:cNvPr id="7" name="Стрелка влево 6">
            <a:hlinkClick r:id="" action="ppaction://hlinkshowjump?jump=firstslide"/>
          </p:cNvPr>
          <p:cNvSpPr/>
          <p:nvPr/>
        </p:nvSpPr>
        <p:spPr>
          <a:xfrm>
            <a:off x="310943" y="5977715"/>
            <a:ext cx="1243770" cy="609194"/>
          </a:xfrm>
          <a:prstGeom prst="leftArrow">
            <a:avLst/>
          </a:prstGeom>
          <a:solidFill>
            <a:srgbClr val="C5AA98"/>
          </a:solidFill>
          <a:ln w="38100">
            <a:solidFill>
              <a:srgbClr val="59392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Notes Theme">
  <a:themeElements>
    <a:clrScheme name="Office Notes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Notes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Notes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1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Mobile 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Екатерина</cp:lastModifiedBy>
  <cp:revision>1</cp:revision>
  <dcterms:created xsi:type="dcterms:W3CDTF">2017-06-21T13:57:27Z</dcterms:created>
  <dcterms:modified xsi:type="dcterms:W3CDTF">2025-12-19T10:32:32Z</dcterms:modified>
</cp:coreProperties>
</file>